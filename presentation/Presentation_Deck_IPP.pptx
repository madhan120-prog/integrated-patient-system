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14213D"/>
                </a:solidFill>
                <a:latin typeface="Arial"/>
              </a:defRPr>
            </a:pPr>
            <a:r>
              <a:rPr sz="1200" b="1" i="0" u="none" strike="noStrike">
                <a:solidFill>
                  <a:srgbClr val="14213D"/>
                </a:solidFill>
                <a:latin typeface="Arial"/>
              </a:rPr>
              <a:t>Automatic trend detection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Lab value (illustrative)</c:v>
                </c:pt>
              </c:strCache>
            </c:strRef>
          </c:tx>
          <c:spPr>
            <a:solidFill>
              <a:srgbClr val="EF6351"/>
            </a:solidFill>
            <a:ln w="31750" cap="flat">
              <a:solidFill>
                <a:srgbClr val="EF6351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213D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6351"/>
              </a:solidFill>
              <a:ln w="9525" cap="flat">
                <a:solidFill>
                  <a:srgbClr val="EF635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Visit 1</c:v>
                  </c:pt>
                  <c:pt idx="1">
                    <c:v>Visit 2</c:v>
                  </c:pt>
                  <c:pt idx="2">
                    <c:v>Visit 3</c:v>
                  </c:pt>
                  <c:pt idx="3">
                    <c:v>Visit 4</c:v>
                  </c:pt>
                  <c:pt idx="4">
                    <c:v>Visit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12.4</c:v>
                </c:pt>
                <c:pt idx="1">
                  <c:v>11.8</c:v>
                </c:pt>
                <c:pt idx="2">
                  <c:v>10.9</c:v>
                </c:pt>
                <c:pt idx="3">
                  <c:v>10.5</c:v>
                </c:pt>
                <c:pt idx="4">
                  <c:v>10.2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4213D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777240"/>
            <a:ext cx="1005840" cy="100584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4388" y="10287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194560"/>
            <a:ext cx="103628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Patient Portal</a:t>
            </a:r>
            <a:endParaRPr lang="en-US" sz="4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DocAssist.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1371600" y="4206240"/>
            <a:ext cx="9448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8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faster, safer way to see the whole patient picture —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8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once, already proven across six real, different systems.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62179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our clinical leadership meeting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now, every patient means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separate logins.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2834640"/>
            <a:ext cx="1554480" cy="15544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5" y="3238805"/>
            <a:ext cx="746150" cy="7461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526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doctor.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patient in front of them.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246120" y="1783080"/>
            <a:ext cx="2331720" cy="1691640"/>
          </a:xfrm>
          <a:prstGeom prst="roundRect">
            <a:avLst>
              <a:gd name="adj" fmla="val 6486"/>
            </a:avLst>
          </a:prstGeom>
          <a:solidFill>
            <a:srgbClr val="EEF4FA"/>
          </a:solidFill>
          <a:ln/>
        </p:spPr>
      </p:sp>
      <p:sp>
        <p:nvSpPr>
          <p:cNvPr id="7" name="Shape 4"/>
          <p:cNvSpPr/>
          <p:nvPr/>
        </p:nvSpPr>
        <p:spPr>
          <a:xfrm>
            <a:off x="3474720" y="2039112"/>
            <a:ext cx="685800" cy="6858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170" y="2210562"/>
            <a:ext cx="342900" cy="342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83280" y="2834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806440" y="1783080"/>
            <a:ext cx="2331720" cy="1691640"/>
          </a:xfrm>
          <a:prstGeom prst="roundRect">
            <a:avLst>
              <a:gd name="adj" fmla="val 6486"/>
            </a:avLst>
          </a:prstGeom>
          <a:solidFill>
            <a:srgbClr val="EEF4FA"/>
          </a:solidFill>
          <a:ln/>
        </p:spPr>
      </p:sp>
      <p:sp>
        <p:nvSpPr>
          <p:cNvPr id="11" name="Shape 7"/>
          <p:cNvSpPr/>
          <p:nvPr/>
        </p:nvSpPr>
        <p:spPr>
          <a:xfrm>
            <a:off x="6035040" y="2039112"/>
            <a:ext cx="685800" cy="6858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490" y="2210562"/>
            <a:ext cx="342900" cy="3429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943600" y="2834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8366760" y="1783080"/>
            <a:ext cx="2331720" cy="1691640"/>
          </a:xfrm>
          <a:prstGeom prst="roundRect">
            <a:avLst>
              <a:gd name="adj" fmla="val 6486"/>
            </a:avLst>
          </a:prstGeom>
          <a:solidFill>
            <a:srgbClr val="EEF4FA"/>
          </a:solidFill>
          <a:ln/>
        </p:spPr>
      </p:sp>
      <p:sp>
        <p:nvSpPr>
          <p:cNvPr id="15" name="Shape 10"/>
          <p:cNvSpPr/>
          <p:nvPr/>
        </p:nvSpPr>
        <p:spPr>
          <a:xfrm>
            <a:off x="8595360" y="2039112"/>
            <a:ext cx="685800" cy="6858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6810" y="2210562"/>
            <a:ext cx="342900" cy="3429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503920" y="2834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3246120" y="3703320"/>
            <a:ext cx="2331720" cy="1691640"/>
          </a:xfrm>
          <a:prstGeom prst="roundRect">
            <a:avLst>
              <a:gd name="adj" fmla="val 6486"/>
            </a:avLst>
          </a:prstGeom>
          <a:solidFill>
            <a:srgbClr val="EEF4FA"/>
          </a:solidFill>
          <a:ln/>
        </p:spPr>
      </p:sp>
      <p:sp>
        <p:nvSpPr>
          <p:cNvPr id="19" name="Shape 13"/>
          <p:cNvSpPr/>
          <p:nvPr/>
        </p:nvSpPr>
        <p:spPr>
          <a:xfrm>
            <a:off x="3474720" y="3959352"/>
            <a:ext cx="685800" cy="6858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6170" y="4130802"/>
            <a:ext cx="342900" cy="3429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383280" y="4754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Scan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5806440" y="3703320"/>
            <a:ext cx="2331720" cy="1691640"/>
          </a:xfrm>
          <a:prstGeom prst="roundRect">
            <a:avLst>
              <a:gd name="adj" fmla="val 6486"/>
            </a:avLst>
          </a:prstGeom>
          <a:solidFill>
            <a:srgbClr val="EEF4FA"/>
          </a:solidFill>
          <a:ln/>
        </p:spPr>
      </p:sp>
      <p:sp>
        <p:nvSpPr>
          <p:cNvPr id="23" name="Shape 16"/>
          <p:cNvSpPr/>
          <p:nvPr/>
        </p:nvSpPr>
        <p:spPr>
          <a:xfrm>
            <a:off x="6035040" y="3959352"/>
            <a:ext cx="685800" cy="6858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6490" y="4130802"/>
            <a:ext cx="342900" cy="3429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943600" y="4754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</a:t>
            </a:r>
            <a:endParaRPr lang="en-US" sz="1500" dirty="0"/>
          </a:p>
        </p:txBody>
      </p:sp>
      <p:sp>
        <p:nvSpPr>
          <p:cNvPr id="26" name="Shape 18"/>
          <p:cNvSpPr/>
          <p:nvPr/>
        </p:nvSpPr>
        <p:spPr>
          <a:xfrm>
            <a:off x="8366760" y="3703320"/>
            <a:ext cx="2331720" cy="1691640"/>
          </a:xfrm>
          <a:prstGeom prst="roundRect">
            <a:avLst>
              <a:gd name="adj" fmla="val 6486"/>
            </a:avLst>
          </a:prstGeom>
          <a:solidFill>
            <a:srgbClr val="EEF4FA"/>
          </a:solidFill>
          <a:ln/>
        </p:spPr>
      </p:sp>
      <p:sp>
        <p:nvSpPr>
          <p:cNvPr id="27" name="Shape 19"/>
          <p:cNvSpPr/>
          <p:nvPr/>
        </p:nvSpPr>
        <p:spPr>
          <a:xfrm>
            <a:off x="8595360" y="3959352"/>
            <a:ext cx="685800" cy="6858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6810" y="4130802"/>
            <a:ext cx="342900" cy="3429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8503920" y="4754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500" dirty="0"/>
          </a:p>
        </p:txBody>
      </p:sp>
      <p:sp>
        <p:nvSpPr>
          <p:cNvPr id="30" name="Text 21"/>
          <p:cNvSpPr/>
          <p:nvPr/>
        </p:nvSpPr>
        <p:spPr>
          <a:xfrm>
            <a:off x="640080" y="580644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63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systems.  0 shared view.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actually connect six different systems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577340" y="2263140"/>
            <a:ext cx="1234440" cy="123444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8294" y="2584094"/>
            <a:ext cx="592531" cy="5925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36987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ID everywhere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94360" y="42291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patient — a different number in every department's system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944264" y="2715768"/>
            <a:ext cx="402336" cy="329184"/>
          </a:xfrm>
          <a:prstGeom prst="chevron">
            <a:avLst/>
          </a:prstGeom>
          <a:solidFill>
            <a:srgbClr val="EF6351"/>
          </a:solidFill>
          <a:ln/>
        </p:spPr>
      </p:sp>
      <p:sp>
        <p:nvSpPr>
          <p:cNvPr id="8" name="Shape 5"/>
          <p:cNvSpPr/>
          <p:nvPr/>
        </p:nvSpPr>
        <p:spPr>
          <a:xfrm>
            <a:off x="5479085" y="2263140"/>
            <a:ext cx="1234440" cy="123444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0039" y="2584094"/>
            <a:ext cx="592531" cy="59253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96105" y="36987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index matches the person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4496105" y="42291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Instantly, so nothing depends on names or guesswork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844180" y="2715768"/>
            <a:ext cx="402336" cy="329184"/>
          </a:xfrm>
          <a:prstGeom prst="chevron">
            <a:avLst/>
          </a:prstGeom>
          <a:solidFill>
            <a:srgbClr val="EF6351"/>
          </a:solidFill>
          <a:ln/>
        </p:spPr>
      </p:sp>
      <p:sp>
        <p:nvSpPr>
          <p:cNvPr id="13" name="Shape 9"/>
          <p:cNvSpPr/>
          <p:nvPr/>
        </p:nvSpPr>
        <p:spPr>
          <a:xfrm>
            <a:off x="9377172" y="2263140"/>
            <a:ext cx="1234440" cy="123444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8126" y="2584094"/>
            <a:ext cx="592531" cy="59253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94192" y="36987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format translated on the spot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8394192" y="42291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vendor's own shape, converted to one shared shape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40080" y="57607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63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fresh every time you ask — never a stale overnight copy.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page. Not six separate logins.</a:t>
            </a:r>
            <a:endParaRPr lang="en-US" sz="2800" dirty="0"/>
          </a:p>
        </p:txBody>
      </p:sp>
      <p:pic>
        <p:nvPicPr>
          <p:cNvPr id="3" name="Image 0" descr="/Users/madhankumartammineni/Desktop/Projects/integrated-patient-system/presentation/assets/screenshots/unified-patient-record-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417320"/>
            <a:ext cx="9326880" cy="4490893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1B2A4A">
                <a:alpha val="2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1432408" y="1417320"/>
            <a:ext cx="9326880" cy="4490893"/>
          </a:xfrm>
          <a:prstGeom prst="rect">
            <a:avLst/>
          </a:prstGeom>
          <a:ln w="12700">
            <a:solidFill>
              <a:srgbClr val="D8E6F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6091093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real screenshot — the actual running system, one patient, every department, one page.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Whatever format it's in today, this adapts to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2788920"/>
            <a:ext cx="1371600" cy="137160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3145536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2519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hospital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 flipV="1">
            <a:off x="2194560" y="1819656"/>
            <a:ext cx="1920240" cy="1655064"/>
          </a:xfrm>
          <a:prstGeom prst="line">
            <a:avLst/>
          </a:prstGeom>
          <a:noFill/>
          <a:ln w="19050">
            <a:solidFill>
              <a:srgbClr val="D8E6F3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4114800" y="1417320"/>
            <a:ext cx="69494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279392" y="1563624"/>
            <a:ext cx="512064" cy="512064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69164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56048" y="1417320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— MRI, X-Ray, CT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9006840" y="1618488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EF6351"/>
          </a:solidFill>
          <a:ln/>
        </p:spPr>
      </p:sp>
      <p:sp>
        <p:nvSpPr>
          <p:cNvPr id="12" name="Text 8"/>
          <p:cNvSpPr/>
          <p:nvPr/>
        </p:nvSpPr>
        <p:spPr>
          <a:xfrm>
            <a:off x="9006840" y="161848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DICOM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 flipV="1">
            <a:off x="2194560" y="2770632"/>
            <a:ext cx="1920240" cy="704088"/>
          </a:xfrm>
          <a:prstGeom prst="line">
            <a:avLst/>
          </a:prstGeom>
          <a:noFill/>
          <a:ln w="19050">
            <a:solidFill>
              <a:srgbClr val="D8E6F3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4114800" y="2368296"/>
            <a:ext cx="69494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79392" y="2514600"/>
            <a:ext cx="512064" cy="512064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264261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956048" y="2368296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9006840" y="2569464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EF6351"/>
          </a:solidFill>
          <a:ln/>
        </p:spPr>
      </p:sp>
      <p:sp>
        <p:nvSpPr>
          <p:cNvPr id="19" name="Text 14"/>
          <p:cNvSpPr/>
          <p:nvPr/>
        </p:nvSpPr>
        <p:spPr>
          <a:xfrm>
            <a:off x="9006840" y="2569464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2194560" y="3474720"/>
            <a:ext cx="1920240" cy="246888"/>
          </a:xfrm>
          <a:prstGeom prst="line">
            <a:avLst/>
          </a:prstGeom>
          <a:noFill/>
          <a:ln w="19050">
            <a:solidFill>
              <a:srgbClr val="D8E6F3"/>
            </a:solidFill>
            <a:prstDash val="dash"/>
          </a:ln>
        </p:spPr>
      </p:sp>
      <p:sp>
        <p:nvSpPr>
          <p:cNvPr id="21" name="Shape 16"/>
          <p:cNvSpPr/>
          <p:nvPr/>
        </p:nvSpPr>
        <p:spPr>
          <a:xfrm>
            <a:off x="4114800" y="3319272"/>
            <a:ext cx="69494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279392" y="3465576"/>
            <a:ext cx="512064" cy="512064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3593592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956048" y="3319272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9006840" y="352044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EF6351"/>
          </a:solidFill>
          <a:ln/>
        </p:spPr>
      </p:sp>
      <p:sp>
        <p:nvSpPr>
          <p:cNvPr id="26" name="Text 20"/>
          <p:cNvSpPr/>
          <p:nvPr/>
        </p:nvSpPr>
        <p:spPr>
          <a:xfrm>
            <a:off x="9006840" y="352044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flat-file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2194560" y="3474720"/>
            <a:ext cx="1920240" cy="1197864"/>
          </a:xfrm>
          <a:prstGeom prst="line">
            <a:avLst/>
          </a:prstGeom>
          <a:noFill/>
          <a:ln w="19050">
            <a:solidFill>
              <a:srgbClr val="D8E6F3"/>
            </a:solidFill>
            <a:prstDash val="dash"/>
          </a:ln>
        </p:spPr>
      </p:sp>
      <p:sp>
        <p:nvSpPr>
          <p:cNvPr id="28" name="Shape 22"/>
          <p:cNvSpPr/>
          <p:nvPr/>
        </p:nvSpPr>
        <p:spPr>
          <a:xfrm>
            <a:off x="4114800" y="4270248"/>
            <a:ext cx="69494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B2A4A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279392" y="4416552"/>
            <a:ext cx="512064" cy="512064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7408" y="4544568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956048" y="4270248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/ EHR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9006840" y="4471416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EF6351"/>
          </a:solidFill>
          <a:ln/>
        </p:spPr>
      </p:sp>
      <p:sp>
        <p:nvSpPr>
          <p:cNvPr id="33" name="Text 26"/>
          <p:cNvSpPr/>
          <p:nvPr/>
        </p:nvSpPr>
        <p:spPr>
          <a:xfrm>
            <a:off x="9006840" y="447141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 FHIR-style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vendors. Different formats. Already proven: six genuinely different systems, unified — not a mockup.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healthcare actually solves this — at any scale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51560" y="1737360"/>
            <a:ext cx="4663440" cy="3200400"/>
          </a:xfrm>
          <a:prstGeom prst="roundRect">
            <a:avLst>
              <a:gd name="adj" fmla="val 3429"/>
            </a:avLst>
          </a:prstGeom>
          <a:solidFill>
            <a:srgbClr val="EEF4FA"/>
          </a:solidFill>
          <a:ln/>
        </p:spPr>
      </p:sp>
      <p:sp>
        <p:nvSpPr>
          <p:cNvPr id="4" name="Shape 2"/>
          <p:cNvSpPr/>
          <p:nvPr/>
        </p:nvSpPr>
        <p:spPr>
          <a:xfrm>
            <a:off x="2880360" y="2057400"/>
            <a:ext cx="1005840" cy="100584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1878" y="231891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32004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clinic or practice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234440" y="36576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63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$30K – $150K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234440" y="4206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to get running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76695" y="1737360"/>
            <a:ext cx="4663440" cy="3200400"/>
          </a:xfrm>
          <a:prstGeom prst="roundRect">
            <a:avLst>
              <a:gd name="adj" fmla="val 3429"/>
            </a:avLst>
          </a:prstGeom>
          <a:solidFill>
            <a:srgbClr val="EEF4FA"/>
          </a:solidFill>
          <a:ln/>
        </p:spPr>
      </p:sp>
      <p:sp>
        <p:nvSpPr>
          <p:cNvPr id="10" name="Shape 7"/>
          <p:cNvSpPr/>
          <p:nvPr/>
        </p:nvSpPr>
        <p:spPr>
          <a:xfrm>
            <a:off x="8305495" y="2057400"/>
            <a:ext cx="1005840" cy="100584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014" y="2318918"/>
            <a:ext cx="482803" cy="482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59575" y="32004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hospital system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659575" y="36576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63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$500K – $2M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6659575" y="4206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to years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730088" y="2971800"/>
            <a:ext cx="731520" cy="73152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968" y="31546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" y="52578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underlying approach either way — a layer that connects systems that were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built to talk to each other. Built right-sized for a center like this.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around your systems, not ours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2148840" y="3154680"/>
            <a:ext cx="1371600" cy="137160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5456" y="3511296"/>
            <a:ext cx="658368" cy="6583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 flipV="1">
            <a:off x="2834640" y="2247138"/>
            <a:ext cx="9144" cy="1593342"/>
          </a:xfrm>
          <a:prstGeom prst="line">
            <a:avLst/>
          </a:prstGeom>
          <a:noFill/>
          <a:ln w="19050">
            <a:solidFill>
              <a:srgbClr val="D8E6F3"/>
            </a:solidFill>
            <a:prstDash val="dash"/>
          </a:ln>
        </p:spPr>
      </p:sp>
      <p:sp>
        <p:nvSpPr>
          <p:cNvPr id="6" name="Shape 3"/>
          <p:cNvSpPr/>
          <p:nvPr/>
        </p:nvSpPr>
        <p:spPr>
          <a:xfrm>
            <a:off x="2551176" y="1963674"/>
            <a:ext cx="566928" cy="56692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908" y="2105406"/>
            <a:ext cx="283464" cy="28346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 flipV="1">
            <a:off x="2834640" y="3043809"/>
            <a:ext cx="1623382" cy="796671"/>
          </a:xfrm>
          <a:prstGeom prst="line">
            <a:avLst/>
          </a:prstGeom>
          <a:noFill/>
          <a:ln w="19050">
            <a:solidFill>
              <a:srgbClr val="D8E6F3"/>
            </a:solidFill>
            <a:prstDash val="dash"/>
          </a:ln>
        </p:spPr>
      </p:sp>
      <p:sp>
        <p:nvSpPr>
          <p:cNvPr id="9" name="Shape 5"/>
          <p:cNvSpPr/>
          <p:nvPr/>
        </p:nvSpPr>
        <p:spPr>
          <a:xfrm>
            <a:off x="4174558" y="2760345"/>
            <a:ext cx="566928" cy="56692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290" y="2902077"/>
            <a:ext cx="283464" cy="28346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834640" y="3840480"/>
            <a:ext cx="1623382" cy="796671"/>
          </a:xfrm>
          <a:prstGeom prst="line">
            <a:avLst/>
          </a:prstGeom>
          <a:noFill/>
          <a:ln w="19050">
            <a:solidFill>
              <a:srgbClr val="D8E6F3"/>
            </a:solidFill>
            <a:prstDash val="dash"/>
          </a:ln>
        </p:spPr>
      </p:sp>
      <p:sp>
        <p:nvSpPr>
          <p:cNvPr id="12" name="Shape 7"/>
          <p:cNvSpPr/>
          <p:nvPr/>
        </p:nvSpPr>
        <p:spPr>
          <a:xfrm>
            <a:off x="4174558" y="4353687"/>
            <a:ext cx="566928" cy="56692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6290" y="4495419"/>
            <a:ext cx="283464" cy="28346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2834640" y="3840480"/>
            <a:ext cx="9144" cy="1593342"/>
          </a:xfrm>
          <a:prstGeom prst="line">
            <a:avLst/>
          </a:prstGeom>
          <a:noFill/>
          <a:ln w="19050">
            <a:solidFill>
              <a:srgbClr val="D8E6F3"/>
            </a:solidFill>
            <a:prstDash val="dash"/>
          </a:ln>
        </p:spPr>
      </p:sp>
      <p:sp>
        <p:nvSpPr>
          <p:cNvPr id="15" name="Shape 9"/>
          <p:cNvSpPr/>
          <p:nvPr/>
        </p:nvSpPr>
        <p:spPr>
          <a:xfrm>
            <a:off x="2551176" y="5150358"/>
            <a:ext cx="566928" cy="56692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2908" y="5292090"/>
            <a:ext cx="283464" cy="283464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 flipH="1">
            <a:off x="1211258" y="3840480"/>
            <a:ext cx="1623382" cy="796671"/>
          </a:xfrm>
          <a:prstGeom prst="line">
            <a:avLst/>
          </a:prstGeom>
          <a:noFill/>
          <a:ln w="19050">
            <a:solidFill>
              <a:srgbClr val="D8E6F3"/>
            </a:solidFill>
            <a:prstDash val="dash"/>
          </a:ln>
        </p:spPr>
      </p:sp>
      <p:sp>
        <p:nvSpPr>
          <p:cNvPr id="18" name="Shape 11"/>
          <p:cNvSpPr/>
          <p:nvPr/>
        </p:nvSpPr>
        <p:spPr>
          <a:xfrm>
            <a:off x="927794" y="4353687"/>
            <a:ext cx="566928" cy="56692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526" y="4495419"/>
            <a:ext cx="283464" cy="283464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 flipH="1" flipV="1">
            <a:off x="1211258" y="3043809"/>
            <a:ext cx="1623382" cy="796671"/>
          </a:xfrm>
          <a:prstGeom prst="line">
            <a:avLst/>
          </a:prstGeom>
          <a:noFill/>
          <a:ln w="19050">
            <a:solidFill>
              <a:srgbClr val="D8E6F3"/>
            </a:solidFill>
            <a:prstDash val="dash"/>
          </a:ln>
        </p:spPr>
      </p:sp>
      <p:sp>
        <p:nvSpPr>
          <p:cNvPr id="21" name="Shape 13"/>
          <p:cNvSpPr/>
          <p:nvPr/>
        </p:nvSpPr>
        <p:spPr>
          <a:xfrm>
            <a:off x="927794" y="2760345"/>
            <a:ext cx="566928" cy="56692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526" y="2902077"/>
            <a:ext cx="283464" cy="28346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822960" y="59893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proven: six genuinely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systems, one view.</a:t>
            </a:r>
            <a:endParaRPr lang="en-US" sz="1250" dirty="0"/>
          </a:p>
        </p:txBody>
      </p:sp>
      <p:sp>
        <p:nvSpPr>
          <p:cNvPr id="24" name="Shape 15"/>
          <p:cNvSpPr/>
          <p:nvPr/>
        </p:nvSpPr>
        <p:spPr>
          <a:xfrm>
            <a:off x="6035040" y="2011680"/>
            <a:ext cx="548640" cy="54864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8484" y="2135124"/>
            <a:ext cx="301752" cy="30175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766560" y="19659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systems stay exactly as they are</a:t>
            </a:r>
            <a:endParaRPr lang="en-US" sz="1700" dirty="0"/>
          </a:p>
        </p:txBody>
      </p:sp>
      <p:sp>
        <p:nvSpPr>
          <p:cNvPr id="27" name="Shape 17"/>
          <p:cNvSpPr/>
          <p:nvPr/>
        </p:nvSpPr>
        <p:spPr>
          <a:xfrm>
            <a:off x="6035040" y="3063240"/>
            <a:ext cx="548640" cy="54864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8484" y="3186684"/>
            <a:ext cx="301752" cy="301752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6766560" y="30175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rip out, nothing to replace</a:t>
            </a:r>
            <a:endParaRPr lang="en-US" sz="1700" dirty="0"/>
          </a:p>
        </p:txBody>
      </p:sp>
      <p:sp>
        <p:nvSpPr>
          <p:cNvPr id="30" name="Shape 19"/>
          <p:cNvSpPr/>
          <p:nvPr/>
        </p:nvSpPr>
        <p:spPr>
          <a:xfrm>
            <a:off x="6035040" y="4114800"/>
            <a:ext cx="548640" cy="54864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58484" y="4238244"/>
            <a:ext cx="301752" cy="301752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6766560" y="4069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the bridge — not a new front door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0048" y="457200"/>
            <a:ext cx="1371600" cy="137160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6664" y="813816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574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DocAssist.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645920" y="2834640"/>
            <a:ext cx="8899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 about any patient, in plain English.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an answer grounded in their real chart — not a guess.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423160" y="4160520"/>
            <a:ext cx="822960" cy="82296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0" y="436626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5120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across every department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684825" y="4160520"/>
            <a:ext cx="822960" cy="82296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565" y="436626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724705" y="5120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its sources every time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8942832" y="4160520"/>
            <a:ext cx="822960" cy="82296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8572" y="4366260"/>
            <a:ext cx="411480" cy="411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982712" y="5120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or fully private — your choice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DocAssist builds every answer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77240" y="1325880"/>
            <a:ext cx="914400" cy="9144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156362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asked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1440" y="27889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English, no special syntax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290572" y="1664208"/>
            <a:ext cx="292608" cy="237744"/>
          </a:xfrm>
          <a:prstGeom prst="chevron">
            <a:avLst/>
          </a:prstGeom>
          <a:solidFill>
            <a:srgbClr val="EF6351"/>
          </a:solidFill>
          <a:ln/>
        </p:spPr>
      </p:sp>
      <p:sp>
        <p:nvSpPr>
          <p:cNvPr id="8" name="Shape 5"/>
          <p:cNvSpPr/>
          <p:nvPr/>
        </p:nvSpPr>
        <p:spPr>
          <a:xfrm>
            <a:off x="3182112" y="1325880"/>
            <a:ext cx="914400" cy="9144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1563624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496312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records found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496312" y="27889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from all six systems — only what's relevant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695444" y="1664208"/>
            <a:ext cx="292608" cy="237744"/>
          </a:xfrm>
          <a:prstGeom prst="chevron">
            <a:avLst/>
          </a:prstGeom>
          <a:solidFill>
            <a:srgbClr val="EF6351"/>
          </a:solidFill>
          <a:ln/>
        </p:spPr>
      </p:sp>
      <p:sp>
        <p:nvSpPr>
          <p:cNvPr id="13" name="Shape 9"/>
          <p:cNvSpPr/>
          <p:nvPr/>
        </p:nvSpPr>
        <p:spPr>
          <a:xfrm>
            <a:off x="5586984" y="1325880"/>
            <a:ext cx="914400" cy="9144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728" y="1563624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01184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computed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901184" y="27889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and risk flags calculated, never left to memory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7100316" y="1664208"/>
            <a:ext cx="292608" cy="237744"/>
          </a:xfrm>
          <a:prstGeom prst="chevron">
            <a:avLst/>
          </a:prstGeom>
          <a:solidFill>
            <a:srgbClr val="EF6351"/>
          </a:solidFill>
          <a:ln/>
        </p:spPr>
      </p:sp>
      <p:sp>
        <p:nvSpPr>
          <p:cNvPr id="18" name="Shape 13"/>
          <p:cNvSpPr/>
          <p:nvPr/>
        </p:nvSpPr>
        <p:spPr>
          <a:xfrm>
            <a:off x="7991856" y="1325880"/>
            <a:ext cx="914400" cy="9144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563624"/>
            <a:ext cx="438912" cy="43891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06056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drafted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7306056" y="27889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into clear, plain-language writing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9505188" y="1664208"/>
            <a:ext cx="292608" cy="237744"/>
          </a:xfrm>
          <a:prstGeom prst="chevron">
            <a:avLst/>
          </a:prstGeom>
          <a:solidFill>
            <a:srgbClr val="EF6351"/>
          </a:solidFill>
          <a:ln/>
        </p:spPr>
      </p:sp>
      <p:sp>
        <p:nvSpPr>
          <p:cNvPr id="23" name="Shape 17"/>
          <p:cNvSpPr/>
          <p:nvPr/>
        </p:nvSpPr>
        <p:spPr>
          <a:xfrm>
            <a:off x="10396728" y="1325880"/>
            <a:ext cx="914400" cy="91440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4472" y="1563624"/>
            <a:ext cx="438912" cy="43891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710928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before shown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9710928" y="27889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safety checks flag anything uncertain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640080" y="37490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example — not the AI's memory, an actual calculation</a:t>
            </a:r>
            <a:endParaRPr lang="en-US" sz="12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4041648" y="4069080"/>
          <a:ext cx="41148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Trust, made visible</a:t>
            </a:r>
            <a:endParaRPr lang="en-US" sz="2900" dirty="0"/>
          </a:p>
        </p:txBody>
      </p:sp>
      <p:pic>
        <p:nvPicPr>
          <p:cNvPr id="3" name="Image 0" descr="/Users/madhankumartammineni/Desktop/Projects/integrated-patient-system/presentation/assets/screenshots/docassist-flagged-finding-evidence-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772400" cy="3742411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1B2A4A">
                <a:alpha val="2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48640" y="1417320"/>
            <a:ext cx="7772400" cy="3742411"/>
          </a:xfrm>
          <a:prstGeom prst="rect">
            <a:avLst/>
          </a:prstGeom>
          <a:ln w="12700">
            <a:solidFill>
              <a:srgbClr val="D8E6F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14400" y="3195002"/>
            <a:ext cx="868680" cy="219456"/>
          </a:xfrm>
          <a:prstGeom prst="roundRect">
            <a:avLst>
              <a:gd name="adj" fmla="val 16667"/>
            </a:avLst>
          </a:prstGeom>
          <a:ln w="28575">
            <a:solidFill>
              <a:srgbClr val="EF635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8321040" y="3246120"/>
            <a:ext cx="457200" cy="31178"/>
          </a:xfrm>
          <a:prstGeom prst="line">
            <a:avLst/>
          </a:prstGeom>
          <a:noFill/>
          <a:ln w="19050">
            <a:solidFill>
              <a:srgbClr val="EF6351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8778240" y="2926080"/>
            <a:ext cx="2926080" cy="685800"/>
          </a:xfrm>
          <a:prstGeom prst="roundRect">
            <a:avLst>
              <a:gd name="adj" fmla="val 13333"/>
            </a:avLst>
          </a:prstGeom>
          <a:solidFill>
            <a:srgbClr val="EF6351"/>
          </a:solidFill>
          <a:ln/>
        </p:spPr>
      </p:sp>
      <p:sp>
        <p:nvSpPr>
          <p:cNvPr id="8" name="Text 5"/>
          <p:cNvSpPr/>
          <p:nvPr/>
        </p:nvSpPr>
        <p:spPr>
          <a:xfrm>
            <a:off x="8915400" y="29260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what it's unsure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— automatically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41248" y="3580433"/>
            <a:ext cx="2331720" cy="325590"/>
          </a:xfrm>
          <a:prstGeom prst="roundRect">
            <a:avLst>
              <a:gd name="adj" fmla="val 14042"/>
            </a:avLst>
          </a:prstGeom>
          <a:ln w="28575">
            <a:solidFill>
              <a:srgbClr val="1421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321040" y="3743228"/>
            <a:ext cx="457200" cy="417292"/>
          </a:xfrm>
          <a:prstGeom prst="line">
            <a:avLst/>
          </a:prstGeom>
          <a:noFill/>
          <a:ln w="19050">
            <a:solidFill>
              <a:srgbClr val="14213D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8778240" y="3840480"/>
            <a:ext cx="2926080" cy="68580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/>
        </p:spPr>
      </p:sp>
      <p:sp>
        <p:nvSpPr>
          <p:cNvPr id="12" name="Text 9"/>
          <p:cNvSpPr/>
          <p:nvPr/>
        </p:nvSpPr>
        <p:spPr>
          <a:xfrm>
            <a:off x="8915400" y="38404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its sources —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time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5324323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answer from the running system — not staged.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90008" y="1371600"/>
            <a:ext cx="2011680" cy="201168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2928" y="187452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79476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see it live.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480060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8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question. Real records. Instant answer.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Everything, visualized</a:t>
            </a:r>
            <a:endParaRPr lang="en-US" sz="2900" dirty="0"/>
          </a:p>
        </p:txBody>
      </p:sp>
      <p:pic>
        <p:nvPicPr>
          <p:cNvPr id="3" name="Image 0" descr="/Users/madhankumartammineni/Desktop/Projects/integrated-patient-system/presentation/assets/screenshots/analytics-breakdown-charts-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492240" cy="3126014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1B2A4A">
                <a:alpha val="2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48640" y="1600200"/>
            <a:ext cx="6492240" cy="3126014"/>
          </a:xfrm>
          <a:prstGeom prst="rect">
            <a:avLst/>
          </a:prstGeom>
          <a:ln w="12700">
            <a:solidFill>
              <a:srgbClr val="D8E6F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452360" y="1828800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2380" y="198882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0" y="1783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visit, one timeline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8229600" y="221284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piecing it together from six tabs.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7452360" y="3246120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2380" y="340614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0" y="3200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surfaced automatically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8229600" y="363016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buried in a table, not missed.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7452360" y="4663440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2380" y="482346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29600" y="4617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one click away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8229600" y="50474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image, right where the answer is.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so you can trust every answer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914400" y="1874520"/>
            <a:ext cx="10362895" cy="1170432"/>
          </a:xfrm>
          <a:prstGeom prst="roundRect">
            <a:avLst>
              <a:gd name="adj" fmla="val 7813"/>
            </a:avLst>
          </a:prstGeom>
          <a:solidFill>
            <a:srgbClr val="EEF4FA"/>
          </a:solidFill>
          <a:ln/>
        </p:spPr>
      </p:sp>
      <p:sp>
        <p:nvSpPr>
          <p:cNvPr id="4" name="Shape 2"/>
          <p:cNvSpPr/>
          <p:nvPr/>
        </p:nvSpPr>
        <p:spPr>
          <a:xfrm>
            <a:off x="1207008" y="2112264"/>
            <a:ext cx="694944" cy="694944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744" y="228600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94560" y="198424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can stay fully inside your network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2194560" y="245973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requirement to send anything off-site.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3246120"/>
            <a:ext cx="10362895" cy="1170432"/>
          </a:xfrm>
          <a:prstGeom prst="roundRect">
            <a:avLst>
              <a:gd name="adj" fmla="val 7813"/>
            </a:avLst>
          </a:prstGeom>
          <a:solidFill>
            <a:srgbClr val="EEF4FA"/>
          </a:solidFill>
          <a:ln/>
        </p:spPr>
      </p:sp>
      <p:sp>
        <p:nvSpPr>
          <p:cNvPr id="9" name="Shape 6"/>
          <p:cNvSpPr/>
          <p:nvPr/>
        </p:nvSpPr>
        <p:spPr>
          <a:xfrm>
            <a:off x="1207008" y="3483864"/>
            <a:ext cx="694944" cy="694944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4" y="365760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94560" y="335584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look at a chart is logged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2194560" y="383133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 trail that protects your staff too.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914400" y="4617720"/>
            <a:ext cx="10362895" cy="1170432"/>
          </a:xfrm>
          <a:prstGeom prst="roundRect">
            <a:avLst>
              <a:gd name="adj" fmla="val 7813"/>
            </a:avLst>
          </a:prstGeom>
          <a:solidFill>
            <a:srgbClr val="EEF4FA"/>
          </a:solidFill>
          <a:ln/>
        </p:spPr>
      </p:sp>
      <p:sp>
        <p:nvSpPr>
          <p:cNvPr id="14" name="Shape 10"/>
          <p:cNvSpPr/>
          <p:nvPr/>
        </p:nvSpPr>
        <p:spPr>
          <a:xfrm>
            <a:off x="1207008" y="4855464"/>
            <a:ext cx="694944" cy="694944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744" y="502920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194560" y="472744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flags. It never decides.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2194560" y="520293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always have the final call.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Secure. Reliable. Flexible. Fast.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249528" y="1600200"/>
            <a:ext cx="914400" cy="91440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7272" y="183794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7988" y="26974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57988" y="3246120"/>
            <a:ext cx="2697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and a full audit trail today — and we'll follow HIPAA guidelines end-to-end, working directly with your compliance team.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175608" y="1600200"/>
            <a:ext cx="914400" cy="91440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352" y="1837944"/>
            <a:ext cx="438912" cy="438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84068" y="26974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3284068" y="3246120"/>
            <a:ext cx="2697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checked against the real chart before it's shown. Known gaps are being fixed in the open, not hidden.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101688" y="1600200"/>
            <a:ext cx="914400" cy="91440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432" y="1837944"/>
            <a:ext cx="438912" cy="4389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10148" y="26974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Flexible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210148" y="3246120"/>
            <a:ext cx="2697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unifies six genuinely different systems — built so new capabilities can be added without a rebuild.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10027768" y="1600200"/>
            <a:ext cx="914400" cy="91440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5512" y="1837944"/>
            <a:ext cx="438912" cy="4389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36228" y="26974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9136228" y="3246120"/>
            <a:ext cx="2697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department is queried in parallel, not one at a time. A smart cache is next, for instant repeat answers.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real access happens in stages — not all at once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965960" y="2240280"/>
            <a:ext cx="1280160" cy="128016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8802" y="2573122"/>
            <a:ext cx="614477" cy="6144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372160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data first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051560" y="4389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connect to a sandbox, not live records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169664" y="2734056"/>
            <a:ext cx="365760" cy="292608"/>
          </a:xfrm>
          <a:prstGeom prst="chevron">
            <a:avLst/>
          </a:prstGeom>
          <a:solidFill>
            <a:srgbClr val="D8E6F3"/>
          </a:solidFill>
          <a:ln/>
        </p:spPr>
      </p:sp>
      <p:sp>
        <p:nvSpPr>
          <p:cNvPr id="8" name="Shape 5"/>
          <p:cNvSpPr/>
          <p:nvPr/>
        </p:nvSpPr>
        <p:spPr>
          <a:xfrm>
            <a:off x="5458968" y="2240280"/>
            <a:ext cx="1280160" cy="128016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810" y="2573122"/>
            <a:ext cx="614477" cy="61447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44568" y="372160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IT signs off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4544568" y="4389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reviews and approves before anything real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662672" y="2734056"/>
            <a:ext cx="365760" cy="292608"/>
          </a:xfrm>
          <a:prstGeom prst="chevron">
            <a:avLst/>
          </a:prstGeom>
          <a:solidFill>
            <a:srgbClr val="D8E6F3"/>
          </a:solidFill>
          <a:ln/>
        </p:spPr>
      </p:sp>
      <p:sp>
        <p:nvSpPr>
          <p:cNvPr id="13" name="Shape 9"/>
          <p:cNvSpPr/>
          <p:nvPr/>
        </p:nvSpPr>
        <p:spPr>
          <a:xfrm>
            <a:off x="8951976" y="2240280"/>
            <a:ext cx="1280160" cy="128016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4818" y="2573122"/>
            <a:ext cx="614477" cy="61447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37576" y="372160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live, one department at a time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8037576" y="4389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 big-bang switch-over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40080" y="589788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integration pattern hospitals already run — nothing new for them to adopt.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 first step, not a big leap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1920240" y="2377440"/>
            <a:ext cx="1371600" cy="13716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6856" y="2734056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3977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143000" y="45262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department, real data, a few weeks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151376" y="2898648"/>
            <a:ext cx="402336" cy="329184"/>
          </a:xfrm>
          <a:prstGeom prst="chevron">
            <a:avLst/>
          </a:prstGeom>
          <a:solidFill>
            <a:srgbClr val="D8E6F3"/>
          </a:solidFill>
          <a:ln/>
        </p:spPr>
      </p:sp>
      <p:sp>
        <p:nvSpPr>
          <p:cNvPr id="8" name="Shape 5"/>
          <p:cNvSpPr/>
          <p:nvPr/>
        </p:nvSpPr>
        <p:spPr>
          <a:xfrm>
            <a:off x="5413248" y="2377440"/>
            <a:ext cx="1371600" cy="137160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864" y="2734056"/>
            <a:ext cx="658368" cy="6583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36008" y="3977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it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4636008" y="45262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time saved and doctor feedback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644384" y="2898648"/>
            <a:ext cx="402336" cy="329184"/>
          </a:xfrm>
          <a:prstGeom prst="chevron">
            <a:avLst/>
          </a:prstGeom>
          <a:solidFill>
            <a:srgbClr val="D8E6F3"/>
          </a:solidFill>
          <a:ln/>
        </p:spPr>
      </p:sp>
      <p:sp>
        <p:nvSpPr>
          <p:cNvPr id="13" name="Shape 9"/>
          <p:cNvSpPr/>
          <p:nvPr/>
        </p:nvSpPr>
        <p:spPr>
          <a:xfrm>
            <a:off x="8906256" y="2377440"/>
            <a:ext cx="1371600" cy="13716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2872" y="2734056"/>
            <a:ext cx="658368" cy="6583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29016" y="3977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8129016" y="45262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departments on your timeline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822960"/>
            <a:ext cx="1097280" cy="1097280"/>
          </a:xfrm>
          <a:prstGeom prst="ellipse">
            <a:avLst/>
          </a:prstGeom>
          <a:solidFill>
            <a:srgbClr val="EF63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1528" y="10972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3317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on your mind?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1188720" y="3429000"/>
            <a:ext cx="98142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8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one thing slowing your team down most right now?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8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We'd rather build the right thing than just an impressive one.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51206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63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feedback shapes what we build next.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2026-09-26T05:44:09Z</dcterms:created>
  <dcterms:modified xsi:type="dcterms:W3CDTF">2026-09-26T05:44:09Z</dcterms:modified>
</cp:coreProperties>
</file>