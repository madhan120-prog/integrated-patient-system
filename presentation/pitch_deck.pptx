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4213D"/>
                </a:solidFill>
                <a:latin typeface="Arial"/>
              </a:rPr>
              <a:t>Automatic trend detection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value (illustrative)</c:v>
                </c:pt>
              </c:strCache>
            </c:strRef>
          </c:tx>
          <c:spPr>
            <a:solidFill>
              <a:srgbClr val="EF6351"/>
            </a:solidFill>
            <a:ln w="31750" cap="flat">
              <a:solidFill>
                <a:srgbClr val="EF635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6351"/>
              </a:solidFill>
              <a:ln w="9525" cap="flat">
                <a:solidFill>
                  <a:srgbClr val="EF63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Visit 1</c:v>
                  </c:pt>
                  <c:pt idx="1">
                    <c:v>Visit 2</c:v>
                  </c:pt>
                  <c:pt idx="2">
                    <c:v>Visit 3</c:v>
                  </c:pt>
                  <c:pt idx="3">
                    <c:v>Visit 4</c:v>
                  </c:pt>
                  <c:pt idx="4">
                    <c:v>Visit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11.8</c:v>
                </c:pt>
                <c:pt idx="2">
                  <c:v>10.9</c:v>
                </c:pt>
                <c:pt idx="3">
                  <c:v>10.5</c:v>
                </c:pt>
                <c:pt idx="4">
                  <c:v>10.2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pain, not the product name. This is a data problem first — AI is what we layer on afterward,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told us this themselves — let this land without over-explaining. Every box is a real different vendor system, none of them talk to each other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data-integration pipeline — no jargon needed out loud, walk left to right. DocAssist (next section) is what sits on top of this once the data's unified.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directly about imaging: yes, this is real DICOM, the actual standard radiology equipment already speaks — nothing simplified for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direct answer to 'is this really going to work with OUR systems' — point at the diagram, say: this is not a mockup, six different real storage technologies are already unified exactly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introduction to the AI layer — identity and positioning only. The mechanics (how it actually works) are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mechanism — retrieval, then deterministic computation, then AI language, then a safety check. The chart is illustrative, not a real patient shown to a stranger — the point is that the math is calculated, not recalled from memory by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running app now. Keep this slide up only a few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card back to what they just watched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in clinician terms, not compliance terms. Skip HIPAA-clause language unless asked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'pilot' is doing the work here — small, low-risk, reversible. Closing slide —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Patient Portal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DocAssist.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44348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safer way to see the whole patient picture 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already proven across six real, different systems.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our clinical leadership meeting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now, every patient means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separate logins.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554480" cy="15544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323880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in front of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4612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7" name="Shape 4"/>
          <p:cNvSpPr/>
          <p:nvPr/>
        </p:nvSpPr>
        <p:spPr>
          <a:xfrm>
            <a:off x="347472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210562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80644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1" name="Shape 7"/>
          <p:cNvSpPr/>
          <p:nvPr/>
        </p:nvSpPr>
        <p:spPr>
          <a:xfrm>
            <a:off x="603504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2210562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36676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5" name="Shape 10"/>
          <p:cNvSpPr/>
          <p:nvPr/>
        </p:nvSpPr>
        <p:spPr>
          <a:xfrm>
            <a:off x="859536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10" y="2210562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392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24612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9" name="Shape 13"/>
          <p:cNvSpPr/>
          <p:nvPr/>
        </p:nvSpPr>
        <p:spPr>
          <a:xfrm>
            <a:off x="347472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170" y="4130802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80644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3" name="Shape 16"/>
          <p:cNvSpPr/>
          <p:nvPr/>
        </p:nvSpPr>
        <p:spPr>
          <a:xfrm>
            <a:off x="603504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4130802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4360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836676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7" name="Shape 19"/>
          <p:cNvSpPr/>
          <p:nvPr/>
        </p:nvSpPr>
        <p:spPr>
          <a:xfrm>
            <a:off x="859536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810" y="4130802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0392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systems.  0 shared view.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systems to one answer — automatically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010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054" y="2721254"/>
            <a:ext cx="592531" cy="5925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each system, automatically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7063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90906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014" y="2721254"/>
            <a:ext cx="592531" cy="59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patient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3756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lined up to the right person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7959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701802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74" y="2721254"/>
            <a:ext cx="592531" cy="592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sense of it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risks computed, not guessed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988552" y="285292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10126980" y="240030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934" y="2721254"/>
            <a:ext cx="592531" cy="5925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55480" y="38176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555480" y="43205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answer, grounded in the real chart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format it's in today, this adapts to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3063240"/>
            <a:ext cx="1463040" cy="14630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344363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6360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 flipV="1">
            <a:off x="2286000" y="2034540"/>
            <a:ext cx="1828800" cy="1760220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4114800" y="1600200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7602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973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1600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— MRI, X-Ray, CT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915400" y="1815084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2" name="Text 8"/>
          <p:cNvSpPr/>
          <p:nvPr/>
        </p:nvSpPr>
        <p:spPr>
          <a:xfrm>
            <a:off x="8915400" y="18150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 flipV="1">
            <a:off x="2286000" y="3067812"/>
            <a:ext cx="1828800" cy="726948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114800" y="2633472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79349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306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26334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915400" y="2848356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9" name="Text 14"/>
          <p:cNvSpPr/>
          <p:nvPr/>
        </p:nvSpPr>
        <p:spPr>
          <a:xfrm>
            <a:off x="8915400" y="28483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286000" y="3794760"/>
            <a:ext cx="1828800" cy="306324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114800" y="3666744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297680" y="3826764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639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29200" y="366674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915400" y="3881628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26" name="Text 20"/>
          <p:cNvSpPr/>
          <p:nvPr/>
        </p:nvSpPr>
        <p:spPr>
          <a:xfrm>
            <a:off x="8915400" y="38816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flat-file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286000" y="3794760"/>
            <a:ext cx="1828800" cy="1339596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4114800" y="4700016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97680" y="4860036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99719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0" y="4700016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/ EHR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8915400" y="491490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33" name="Text 26"/>
          <p:cNvSpPr/>
          <p:nvPr/>
        </p:nvSpPr>
        <p:spPr>
          <a:xfrm>
            <a:off x="8915400" y="49149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FHIR-style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vendors. Different formats. One system that translates all of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your systems, not 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48840" y="315468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351129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2834640" y="2247138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2551176" y="196367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105406"/>
            <a:ext cx="283464" cy="28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flipV="1">
            <a:off x="2834640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4174558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90" y="2902077"/>
            <a:ext cx="283464" cy="28346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34640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4174558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290" y="4495419"/>
            <a:ext cx="283464" cy="28346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834640" y="3840480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>
            <a:off x="2551176" y="5150358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5292090"/>
            <a:ext cx="283464" cy="28346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 flipH="1">
            <a:off x="1211258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8" name="Shape 11"/>
          <p:cNvSpPr/>
          <p:nvPr/>
        </p:nvSpPr>
        <p:spPr>
          <a:xfrm>
            <a:off x="927794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526" y="4495419"/>
            <a:ext cx="283464" cy="28346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 flipH="1" flipV="1">
            <a:off x="1211258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3"/>
          <p:cNvSpPr/>
          <p:nvPr/>
        </p:nvSpPr>
        <p:spPr>
          <a:xfrm>
            <a:off x="927794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526" y="2902077"/>
            <a:ext cx="283464" cy="2834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22960" y="5989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proven: six genuinely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systems, one view.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484" y="2135124"/>
            <a:ext cx="301752" cy="30175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665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 stay exactly as they are</a:t>
            </a:r>
            <a:endParaRPr lang="en-US" sz="1700" dirty="0"/>
          </a:p>
        </p:txBody>
      </p:sp>
      <p:sp>
        <p:nvSpPr>
          <p:cNvPr id="27" name="Shape 17"/>
          <p:cNvSpPr/>
          <p:nvPr/>
        </p:nvSpPr>
        <p:spPr>
          <a:xfrm>
            <a:off x="6035040" y="306324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484" y="3186684"/>
            <a:ext cx="301752" cy="30175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76656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rip out, nothing to replace</a:t>
            </a:r>
            <a:endParaRPr lang="en-US" sz="1700" dirty="0"/>
          </a:p>
        </p:txBody>
      </p:sp>
      <p:sp>
        <p:nvSpPr>
          <p:cNvPr id="30" name="Shape 19"/>
          <p:cNvSpPr/>
          <p:nvPr/>
        </p:nvSpPr>
        <p:spPr>
          <a:xfrm>
            <a:off x="6035040" y="411480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8484" y="4238244"/>
            <a:ext cx="301752" cy="30175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6656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bridge — not a new front door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50292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85953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DocAssist.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45920" y="29718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any patient, in plain English.</a:t>
            </a:r>
            <a:endParaRPr lang="en-US" sz="16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answer grounded in their real chart — not a guess.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2423160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5034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across every department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84825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45034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4705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its sources every time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942832" y="429768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572" y="450342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82712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or fully private — your choice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DocAssist builds every answer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6550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40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no special syntax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90572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182112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6550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96312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records found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496312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all six systems — only what's relevant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95444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5586984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16550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011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computed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01184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 flags calculated, never left to memory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100316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91856" y="141732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5506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060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drafted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306056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clear, plain-language writing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505188" y="175564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23" name="Shape 17"/>
          <p:cNvSpPr/>
          <p:nvPr/>
        </p:nvSpPr>
        <p:spPr>
          <a:xfrm>
            <a:off x="10396728" y="141732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65506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109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shown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710928" y="2898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checks flag anything uncertain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40080" y="3886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— not the AI's memory, an actual calculation</a:t>
            </a:r>
            <a:endParaRPr lang="en-US" sz="12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041648" y="4251960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371600"/>
            <a:ext cx="2011680" cy="201168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874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794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8006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Real records. Instant answer.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timeline. Plain answers. Faster decisions.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2034540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284" y="2523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result, one place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280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visit, every department, one continuous timeline.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53128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9" name="Shape 6"/>
          <p:cNvSpPr/>
          <p:nvPr/>
        </p:nvSpPr>
        <p:spPr>
          <a:xfrm>
            <a:off x="5710428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25237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Ask, don't search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73168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grounded in the real chart.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9016" y="187452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EEF4FA"/>
          </a:solidFill>
          <a:ln/>
        </p:spPr>
      </p:sp>
      <p:sp>
        <p:nvSpPr>
          <p:cNvPr id="14" name="Shape 10"/>
          <p:cNvSpPr/>
          <p:nvPr/>
        </p:nvSpPr>
        <p:spPr>
          <a:xfrm>
            <a:off x="9386316" y="228600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5237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11896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buried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49056" y="41148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risks surfaced automatically, not missed.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you can trust every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222199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048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207568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can stay fully inside your network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86000" y="25877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to send anything off-site.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342900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368503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8679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3538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 at a chart is logged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286000" y="40507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that protects your staff too.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14400" y="4892040"/>
            <a:ext cx="1036289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1234440" y="5148072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53309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50017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flags. It never decides.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286000" y="55138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have the final call.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first step, not a big leap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97380" y="2400300"/>
            <a:ext cx="1417320" cy="1417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883" y="2768803"/>
            <a:ext cx="680314" cy="680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43000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department, real data, a few weeks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51376" y="294436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5"/>
          <p:cNvSpPr/>
          <p:nvPr/>
        </p:nvSpPr>
        <p:spPr>
          <a:xfrm>
            <a:off x="5390388" y="2400300"/>
            <a:ext cx="1417320" cy="141732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891" y="2768803"/>
            <a:ext cx="680314" cy="6803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36008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saved and doctor feedback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44384" y="294436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9"/>
          <p:cNvSpPr/>
          <p:nvPr/>
        </p:nvSpPr>
        <p:spPr>
          <a:xfrm>
            <a:off x="8883396" y="2400300"/>
            <a:ext cx="1417320" cy="1417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899" y="2768803"/>
            <a:ext cx="680314" cy="6803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9016" y="40462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129016" y="45948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departments on your timeline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2026-08-15T16:13:32Z</dcterms:created>
  <dcterms:modified xsi:type="dcterms:W3CDTF">2026-08-15T16:13:32Z</dcterms:modified>
</cp:coreProperties>
</file>