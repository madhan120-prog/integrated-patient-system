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14213D"/>
                </a:solidFill>
                <a:latin typeface="Arial"/>
              </a:defRPr>
            </a:pPr>
            <a:r>
              <a:rPr sz="1200" b="1" i="0" u="none" strike="noStrike">
                <a:solidFill>
                  <a:srgbClr val="14213D"/>
                </a:solidFill>
                <a:latin typeface="Arial"/>
              </a:rPr>
              <a:t>Automatic trend detection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Lab value (illustrative)</c:v>
                </c:pt>
              </c:strCache>
            </c:strRef>
          </c:tx>
          <c:spPr>
            <a:solidFill>
              <a:srgbClr val="EF6351"/>
            </a:solidFill>
            <a:ln w="31750" cap="flat">
              <a:solidFill>
                <a:srgbClr val="EF6351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213D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6351"/>
              </a:solidFill>
              <a:ln w="9525" cap="flat">
                <a:solidFill>
                  <a:srgbClr val="EF635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Visit 1</c:v>
                  </c:pt>
                  <c:pt idx="1">
                    <c:v>Visit 2</c:v>
                  </c:pt>
                  <c:pt idx="2">
                    <c:v>Visit 3</c:v>
                  </c:pt>
                  <c:pt idx="3">
                    <c:v>Visit 4</c:v>
                  </c:pt>
                  <c:pt idx="4">
                    <c:v>Visit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12.4</c:v>
                </c:pt>
                <c:pt idx="1">
                  <c:v>11.8</c:v>
                </c:pt>
                <c:pt idx="2">
                  <c:v>10.9</c:v>
                </c:pt>
                <c:pt idx="3">
                  <c:v>10.5</c:v>
                </c:pt>
                <c:pt idx="4">
                  <c:v>10.2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4213D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pain, not the product name. This is a data problem first — AI is what we layer on afterward, not the headline.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told us this themselves — let this land without over-explaining. Every box is a real different vendor system, none of them talk to each other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data-integration pipeline — no jargon needed out loud, walk left to right. DocAssist (next section) is what sits on top of this once the data's unified.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directly about imaging: yes, this is real DICOM, the actual standard radiology equipment already speaks — nothing simplified for the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direct answer to 'is this really going to work with OUR systems' — point at the diagram, say: this is not a mockup, six different real storage technologies are already unified exactly like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introduction to the AI layer — identity and positioning only. The mechanics (how it actually works) are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real mechanism — retrieval, then deterministic computation, then AI language, then a safety check. The chart is illustrative, not a real patient shown to a stranger — the point is that the math is calculated, not recalled from memory by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running app now. Keep this slide up only a few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card back to what they just watched in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in clinician terms, not compliance terms. Skip HIPAA-clause language unless asked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how this connects to Epic/their PACS/their LIS: same pattern as their existing interface engine (Mirth/Rhapsody-style), just pointed at their real systems instead of our demo data — test environment first, always.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word 'pilot' is doing the work here — small, low-risk, reversible. Closing slide — let it sit.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914400"/>
            <a:ext cx="1005840" cy="100584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4388" y="11658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377440"/>
            <a:ext cx="1036289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 Patient Portal</a:t>
            </a:r>
            <a:endParaRPr lang="en-US" sz="4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DocAssist.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1371600" y="4434840"/>
            <a:ext cx="9448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8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faster, safer way to see the whole patient picture —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8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once, already proven across six real, different systems.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6172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our clinical leadership meeting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now, every patient means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separate logins.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2834640"/>
            <a:ext cx="1554480" cy="155448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5" y="3238805"/>
            <a:ext cx="746150" cy="7461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526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doctor.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patient in front of them.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246120" y="1783080"/>
            <a:ext cx="2331720" cy="1691640"/>
          </a:xfrm>
          <a:prstGeom prst="roundRect">
            <a:avLst>
              <a:gd name="adj" fmla="val 6486"/>
            </a:avLst>
          </a:prstGeom>
          <a:solidFill>
            <a:srgbClr val="EEF4FA"/>
          </a:solidFill>
          <a:ln/>
        </p:spPr>
      </p:sp>
      <p:sp>
        <p:nvSpPr>
          <p:cNvPr id="7" name="Shape 4"/>
          <p:cNvSpPr/>
          <p:nvPr/>
        </p:nvSpPr>
        <p:spPr>
          <a:xfrm>
            <a:off x="3474720" y="2039112"/>
            <a:ext cx="685800" cy="6858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170" y="2210562"/>
            <a:ext cx="342900" cy="342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83280" y="2834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806440" y="1783080"/>
            <a:ext cx="2331720" cy="1691640"/>
          </a:xfrm>
          <a:prstGeom prst="roundRect">
            <a:avLst>
              <a:gd name="adj" fmla="val 6486"/>
            </a:avLst>
          </a:prstGeom>
          <a:solidFill>
            <a:srgbClr val="EEF4FA"/>
          </a:solidFill>
          <a:ln/>
        </p:spPr>
      </p:sp>
      <p:sp>
        <p:nvSpPr>
          <p:cNvPr id="11" name="Shape 7"/>
          <p:cNvSpPr/>
          <p:nvPr/>
        </p:nvSpPr>
        <p:spPr>
          <a:xfrm>
            <a:off x="6035040" y="2039112"/>
            <a:ext cx="685800" cy="6858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490" y="2210562"/>
            <a:ext cx="342900" cy="3429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943600" y="2834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8366760" y="1783080"/>
            <a:ext cx="2331720" cy="1691640"/>
          </a:xfrm>
          <a:prstGeom prst="roundRect">
            <a:avLst>
              <a:gd name="adj" fmla="val 6486"/>
            </a:avLst>
          </a:prstGeom>
          <a:solidFill>
            <a:srgbClr val="EEF4FA"/>
          </a:solidFill>
          <a:ln/>
        </p:spPr>
      </p:sp>
      <p:sp>
        <p:nvSpPr>
          <p:cNvPr id="15" name="Shape 10"/>
          <p:cNvSpPr/>
          <p:nvPr/>
        </p:nvSpPr>
        <p:spPr>
          <a:xfrm>
            <a:off x="8595360" y="2039112"/>
            <a:ext cx="685800" cy="6858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6810" y="2210562"/>
            <a:ext cx="342900" cy="3429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503920" y="2834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3246120" y="3703320"/>
            <a:ext cx="2331720" cy="1691640"/>
          </a:xfrm>
          <a:prstGeom prst="roundRect">
            <a:avLst>
              <a:gd name="adj" fmla="val 6486"/>
            </a:avLst>
          </a:prstGeom>
          <a:solidFill>
            <a:srgbClr val="EEF4FA"/>
          </a:solidFill>
          <a:ln/>
        </p:spPr>
      </p:sp>
      <p:sp>
        <p:nvSpPr>
          <p:cNvPr id="19" name="Shape 13"/>
          <p:cNvSpPr/>
          <p:nvPr/>
        </p:nvSpPr>
        <p:spPr>
          <a:xfrm>
            <a:off x="3474720" y="3959352"/>
            <a:ext cx="685800" cy="6858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6170" y="4130802"/>
            <a:ext cx="342900" cy="3429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383280" y="4754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Scan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5806440" y="3703320"/>
            <a:ext cx="2331720" cy="1691640"/>
          </a:xfrm>
          <a:prstGeom prst="roundRect">
            <a:avLst>
              <a:gd name="adj" fmla="val 6486"/>
            </a:avLst>
          </a:prstGeom>
          <a:solidFill>
            <a:srgbClr val="EEF4FA"/>
          </a:solidFill>
          <a:ln/>
        </p:spPr>
      </p:sp>
      <p:sp>
        <p:nvSpPr>
          <p:cNvPr id="23" name="Shape 16"/>
          <p:cNvSpPr/>
          <p:nvPr/>
        </p:nvSpPr>
        <p:spPr>
          <a:xfrm>
            <a:off x="6035040" y="3959352"/>
            <a:ext cx="685800" cy="6858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6490" y="4130802"/>
            <a:ext cx="342900" cy="3429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943600" y="4754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</a:t>
            </a:r>
            <a:endParaRPr lang="en-US" sz="1500" dirty="0"/>
          </a:p>
        </p:txBody>
      </p:sp>
      <p:sp>
        <p:nvSpPr>
          <p:cNvPr id="26" name="Shape 18"/>
          <p:cNvSpPr/>
          <p:nvPr/>
        </p:nvSpPr>
        <p:spPr>
          <a:xfrm>
            <a:off x="8366760" y="3703320"/>
            <a:ext cx="2331720" cy="1691640"/>
          </a:xfrm>
          <a:prstGeom prst="roundRect">
            <a:avLst>
              <a:gd name="adj" fmla="val 6486"/>
            </a:avLst>
          </a:prstGeom>
          <a:solidFill>
            <a:srgbClr val="EEF4FA"/>
          </a:solidFill>
          <a:ln/>
        </p:spPr>
      </p:sp>
      <p:sp>
        <p:nvSpPr>
          <p:cNvPr id="27" name="Shape 19"/>
          <p:cNvSpPr/>
          <p:nvPr/>
        </p:nvSpPr>
        <p:spPr>
          <a:xfrm>
            <a:off x="8595360" y="3959352"/>
            <a:ext cx="685800" cy="6858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6810" y="4130802"/>
            <a:ext cx="342900" cy="3429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8503920" y="4754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500" dirty="0"/>
          </a:p>
        </p:txBody>
      </p:sp>
      <p:sp>
        <p:nvSpPr>
          <p:cNvPr id="30" name="Text 21"/>
          <p:cNvSpPr/>
          <p:nvPr/>
        </p:nvSpPr>
        <p:spPr>
          <a:xfrm>
            <a:off x="640080" y="580644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63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systems.  0 shared view.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six systems to one answer — automatically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0100" y="2400300"/>
            <a:ext cx="1234440" cy="123444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054" y="2721254"/>
            <a:ext cx="592531" cy="5925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38176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data in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28600" y="43205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from each system, automatically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70632" y="2852928"/>
            <a:ext cx="402336" cy="329184"/>
          </a:xfrm>
          <a:prstGeom prst="chevron">
            <a:avLst/>
          </a:prstGeom>
          <a:solidFill>
            <a:srgbClr val="EF6351"/>
          </a:solidFill>
          <a:ln/>
        </p:spPr>
      </p:sp>
      <p:sp>
        <p:nvSpPr>
          <p:cNvPr id="8" name="Shape 5"/>
          <p:cNvSpPr/>
          <p:nvPr/>
        </p:nvSpPr>
        <p:spPr>
          <a:xfrm>
            <a:off x="3909060" y="2400300"/>
            <a:ext cx="1234440" cy="123444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014" y="2721254"/>
            <a:ext cx="592531" cy="59253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37560" y="38176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patient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337560" y="43205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lined up to the right person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879592" y="2852928"/>
            <a:ext cx="402336" cy="329184"/>
          </a:xfrm>
          <a:prstGeom prst="chevron">
            <a:avLst/>
          </a:prstGeom>
          <a:solidFill>
            <a:srgbClr val="EF6351"/>
          </a:solidFill>
          <a:ln/>
        </p:spPr>
      </p:sp>
      <p:sp>
        <p:nvSpPr>
          <p:cNvPr id="13" name="Shape 9"/>
          <p:cNvSpPr/>
          <p:nvPr/>
        </p:nvSpPr>
        <p:spPr>
          <a:xfrm>
            <a:off x="7018020" y="2400300"/>
            <a:ext cx="1234440" cy="123444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974" y="2721254"/>
            <a:ext cx="592531" cy="59253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46520" y="38176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sense of it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446520" y="43205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and risks computed, not guessed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988552" y="2852928"/>
            <a:ext cx="402336" cy="329184"/>
          </a:xfrm>
          <a:prstGeom prst="chevron">
            <a:avLst/>
          </a:prstGeom>
          <a:solidFill>
            <a:srgbClr val="EF6351"/>
          </a:solidFill>
          <a:ln/>
        </p:spPr>
      </p:sp>
      <p:sp>
        <p:nvSpPr>
          <p:cNvPr id="18" name="Shape 13"/>
          <p:cNvSpPr/>
          <p:nvPr/>
        </p:nvSpPr>
        <p:spPr>
          <a:xfrm>
            <a:off x="10126980" y="2400300"/>
            <a:ext cx="1234440" cy="123444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7934" y="2721254"/>
            <a:ext cx="592531" cy="59253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555480" y="38176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answer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9555480" y="43205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answer, grounded in the real chart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Whatever format it's in today, this adapts to it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3063240"/>
            <a:ext cx="1463040" cy="146304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350" y="3443630"/>
            <a:ext cx="702259" cy="7022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63600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hospital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 flipV="1">
            <a:off x="2286000" y="2034540"/>
            <a:ext cx="1828800" cy="1760220"/>
          </a:xfrm>
          <a:prstGeom prst="line">
            <a:avLst/>
          </a:prstGeom>
          <a:noFill/>
          <a:ln w="19050">
            <a:solidFill>
              <a:srgbClr val="D8E6F3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4114800" y="1600200"/>
            <a:ext cx="6949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297680" y="1760220"/>
            <a:ext cx="548640" cy="54864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8973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0" y="16002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— MRI, X-Ray, CT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915400" y="1815084"/>
            <a:ext cx="1965960" cy="438912"/>
          </a:xfrm>
          <a:prstGeom prst="roundRect">
            <a:avLst>
              <a:gd name="adj" fmla="val 50000"/>
            </a:avLst>
          </a:prstGeom>
          <a:solidFill>
            <a:srgbClr val="EF6351"/>
          </a:solidFill>
          <a:ln/>
        </p:spPr>
      </p:sp>
      <p:sp>
        <p:nvSpPr>
          <p:cNvPr id="12" name="Text 8"/>
          <p:cNvSpPr/>
          <p:nvPr/>
        </p:nvSpPr>
        <p:spPr>
          <a:xfrm>
            <a:off x="8915400" y="1815084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DICOM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 flipV="1">
            <a:off x="2286000" y="3067812"/>
            <a:ext cx="1828800" cy="726948"/>
          </a:xfrm>
          <a:prstGeom prst="line">
            <a:avLst/>
          </a:prstGeom>
          <a:noFill/>
          <a:ln w="19050">
            <a:solidFill>
              <a:srgbClr val="D8E6F3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4114800" y="2633472"/>
            <a:ext cx="6949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297680" y="2793492"/>
            <a:ext cx="548640" cy="54864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93065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29200" y="263347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8915400" y="2848356"/>
            <a:ext cx="1965960" cy="438912"/>
          </a:xfrm>
          <a:prstGeom prst="roundRect">
            <a:avLst>
              <a:gd name="adj" fmla="val 50000"/>
            </a:avLst>
          </a:prstGeom>
          <a:solidFill>
            <a:srgbClr val="EF6351"/>
          </a:solidFill>
          <a:ln/>
        </p:spPr>
      </p:sp>
      <p:sp>
        <p:nvSpPr>
          <p:cNvPr id="19" name="Text 14"/>
          <p:cNvSpPr/>
          <p:nvPr/>
        </p:nvSpPr>
        <p:spPr>
          <a:xfrm>
            <a:off x="8915400" y="284835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2286000" y="3794760"/>
            <a:ext cx="1828800" cy="306324"/>
          </a:xfrm>
          <a:prstGeom prst="line">
            <a:avLst/>
          </a:prstGeom>
          <a:noFill/>
          <a:ln w="19050">
            <a:solidFill>
              <a:srgbClr val="D8E6F3"/>
            </a:solidFill>
            <a:prstDash val="dash"/>
          </a:ln>
        </p:spPr>
      </p:sp>
      <p:sp>
        <p:nvSpPr>
          <p:cNvPr id="21" name="Shape 16"/>
          <p:cNvSpPr/>
          <p:nvPr/>
        </p:nvSpPr>
        <p:spPr>
          <a:xfrm>
            <a:off x="4114800" y="3666744"/>
            <a:ext cx="6949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297680" y="3826764"/>
            <a:ext cx="548640" cy="54864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3963924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029200" y="3666744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8915400" y="3881628"/>
            <a:ext cx="1965960" cy="438912"/>
          </a:xfrm>
          <a:prstGeom prst="roundRect">
            <a:avLst>
              <a:gd name="adj" fmla="val 50000"/>
            </a:avLst>
          </a:prstGeom>
          <a:solidFill>
            <a:srgbClr val="EF6351"/>
          </a:solidFill>
          <a:ln/>
        </p:spPr>
      </p:sp>
      <p:sp>
        <p:nvSpPr>
          <p:cNvPr id="26" name="Text 20"/>
          <p:cNvSpPr/>
          <p:nvPr/>
        </p:nvSpPr>
        <p:spPr>
          <a:xfrm>
            <a:off x="8915400" y="388162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flat-file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2286000" y="3794760"/>
            <a:ext cx="1828800" cy="1339596"/>
          </a:xfrm>
          <a:prstGeom prst="line">
            <a:avLst/>
          </a:prstGeom>
          <a:noFill/>
          <a:ln w="19050">
            <a:solidFill>
              <a:srgbClr val="D8E6F3"/>
            </a:solidFill>
            <a:prstDash val="dash"/>
          </a:ln>
        </p:spPr>
      </p:sp>
      <p:sp>
        <p:nvSpPr>
          <p:cNvPr id="28" name="Shape 22"/>
          <p:cNvSpPr/>
          <p:nvPr/>
        </p:nvSpPr>
        <p:spPr>
          <a:xfrm>
            <a:off x="4114800" y="4700016"/>
            <a:ext cx="6949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297680" y="4860036"/>
            <a:ext cx="548640" cy="54864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4997196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029200" y="4700016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/ EHR</a:t>
            </a:r>
            <a:endParaRPr lang="en-US" sz="1500" dirty="0"/>
          </a:p>
        </p:txBody>
      </p:sp>
      <p:sp>
        <p:nvSpPr>
          <p:cNvPr id="32" name="Shape 25"/>
          <p:cNvSpPr/>
          <p:nvPr/>
        </p:nvSpPr>
        <p:spPr>
          <a:xfrm>
            <a:off x="8915400" y="4914900"/>
            <a:ext cx="1965960" cy="438912"/>
          </a:xfrm>
          <a:prstGeom prst="roundRect">
            <a:avLst>
              <a:gd name="adj" fmla="val 50000"/>
            </a:avLst>
          </a:prstGeom>
          <a:solidFill>
            <a:srgbClr val="EF6351"/>
          </a:solidFill>
          <a:ln/>
        </p:spPr>
      </p:sp>
      <p:sp>
        <p:nvSpPr>
          <p:cNvPr id="33" name="Text 26"/>
          <p:cNvSpPr/>
          <p:nvPr/>
        </p:nvSpPr>
        <p:spPr>
          <a:xfrm>
            <a:off x="8915400" y="491490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 FHIR-style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640080" y="589788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vendors. Different formats. One system that translates all of it.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around your systems, not ours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148840" y="3154680"/>
            <a:ext cx="1371600" cy="137160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5456" y="3511296"/>
            <a:ext cx="658368" cy="6583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 flipV="1">
            <a:off x="2834640" y="2247138"/>
            <a:ext cx="9144" cy="1593342"/>
          </a:xfrm>
          <a:prstGeom prst="line">
            <a:avLst/>
          </a:prstGeom>
          <a:noFill/>
          <a:ln w="19050">
            <a:solidFill>
              <a:srgbClr val="D8E6F3"/>
            </a:solidFill>
            <a:prstDash val="dash"/>
          </a:ln>
        </p:spPr>
      </p:sp>
      <p:sp>
        <p:nvSpPr>
          <p:cNvPr id="6" name="Shape 3"/>
          <p:cNvSpPr/>
          <p:nvPr/>
        </p:nvSpPr>
        <p:spPr>
          <a:xfrm>
            <a:off x="2551176" y="1963674"/>
            <a:ext cx="566928" cy="56692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908" y="2105406"/>
            <a:ext cx="283464" cy="28346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 flipV="1">
            <a:off x="2834640" y="3043809"/>
            <a:ext cx="1623382" cy="796671"/>
          </a:xfrm>
          <a:prstGeom prst="line">
            <a:avLst/>
          </a:prstGeom>
          <a:noFill/>
          <a:ln w="19050">
            <a:solidFill>
              <a:srgbClr val="D8E6F3"/>
            </a:solidFill>
            <a:prstDash val="dash"/>
          </a:ln>
        </p:spPr>
      </p:sp>
      <p:sp>
        <p:nvSpPr>
          <p:cNvPr id="9" name="Shape 5"/>
          <p:cNvSpPr/>
          <p:nvPr/>
        </p:nvSpPr>
        <p:spPr>
          <a:xfrm>
            <a:off x="4174558" y="2760345"/>
            <a:ext cx="566928" cy="56692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290" y="2902077"/>
            <a:ext cx="283464" cy="28346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834640" y="3840480"/>
            <a:ext cx="1623382" cy="796671"/>
          </a:xfrm>
          <a:prstGeom prst="line">
            <a:avLst/>
          </a:prstGeom>
          <a:noFill/>
          <a:ln w="19050">
            <a:solidFill>
              <a:srgbClr val="D8E6F3"/>
            </a:solidFill>
            <a:prstDash val="dash"/>
          </a:ln>
        </p:spPr>
      </p:sp>
      <p:sp>
        <p:nvSpPr>
          <p:cNvPr id="12" name="Shape 7"/>
          <p:cNvSpPr/>
          <p:nvPr/>
        </p:nvSpPr>
        <p:spPr>
          <a:xfrm>
            <a:off x="4174558" y="4353687"/>
            <a:ext cx="566928" cy="56692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6290" y="4495419"/>
            <a:ext cx="283464" cy="28346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2834640" y="3840480"/>
            <a:ext cx="9144" cy="1593342"/>
          </a:xfrm>
          <a:prstGeom prst="line">
            <a:avLst/>
          </a:prstGeom>
          <a:noFill/>
          <a:ln w="19050">
            <a:solidFill>
              <a:srgbClr val="D8E6F3"/>
            </a:solidFill>
            <a:prstDash val="dash"/>
          </a:ln>
        </p:spPr>
      </p:sp>
      <p:sp>
        <p:nvSpPr>
          <p:cNvPr id="15" name="Shape 9"/>
          <p:cNvSpPr/>
          <p:nvPr/>
        </p:nvSpPr>
        <p:spPr>
          <a:xfrm>
            <a:off x="2551176" y="5150358"/>
            <a:ext cx="566928" cy="56692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2908" y="5292090"/>
            <a:ext cx="283464" cy="283464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 flipH="1">
            <a:off x="1211258" y="3840480"/>
            <a:ext cx="1623382" cy="796671"/>
          </a:xfrm>
          <a:prstGeom prst="line">
            <a:avLst/>
          </a:prstGeom>
          <a:noFill/>
          <a:ln w="19050">
            <a:solidFill>
              <a:srgbClr val="D8E6F3"/>
            </a:solidFill>
            <a:prstDash val="dash"/>
          </a:ln>
        </p:spPr>
      </p:sp>
      <p:sp>
        <p:nvSpPr>
          <p:cNvPr id="18" name="Shape 11"/>
          <p:cNvSpPr/>
          <p:nvPr/>
        </p:nvSpPr>
        <p:spPr>
          <a:xfrm>
            <a:off x="927794" y="4353687"/>
            <a:ext cx="566928" cy="56692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526" y="4495419"/>
            <a:ext cx="283464" cy="283464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 flipH="1" flipV="1">
            <a:off x="1211258" y="3043809"/>
            <a:ext cx="1623382" cy="796671"/>
          </a:xfrm>
          <a:prstGeom prst="line">
            <a:avLst/>
          </a:prstGeom>
          <a:noFill/>
          <a:ln w="19050">
            <a:solidFill>
              <a:srgbClr val="D8E6F3"/>
            </a:solidFill>
            <a:prstDash val="dash"/>
          </a:ln>
        </p:spPr>
      </p:sp>
      <p:sp>
        <p:nvSpPr>
          <p:cNvPr id="21" name="Shape 13"/>
          <p:cNvSpPr/>
          <p:nvPr/>
        </p:nvSpPr>
        <p:spPr>
          <a:xfrm>
            <a:off x="927794" y="2760345"/>
            <a:ext cx="566928" cy="56692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526" y="2902077"/>
            <a:ext cx="283464" cy="28346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822960" y="59893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proven: six genuinely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systems, one view.</a:t>
            </a:r>
            <a:endParaRPr lang="en-US" sz="1250" dirty="0"/>
          </a:p>
        </p:txBody>
      </p:sp>
      <p:sp>
        <p:nvSpPr>
          <p:cNvPr id="24" name="Shape 15"/>
          <p:cNvSpPr/>
          <p:nvPr/>
        </p:nvSpPr>
        <p:spPr>
          <a:xfrm>
            <a:off x="6035040" y="2011680"/>
            <a:ext cx="548640" cy="54864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8484" y="2135124"/>
            <a:ext cx="301752" cy="30175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766560" y="19659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systems stay exactly as they are</a:t>
            </a:r>
            <a:endParaRPr lang="en-US" sz="1700" dirty="0"/>
          </a:p>
        </p:txBody>
      </p:sp>
      <p:sp>
        <p:nvSpPr>
          <p:cNvPr id="27" name="Shape 17"/>
          <p:cNvSpPr/>
          <p:nvPr/>
        </p:nvSpPr>
        <p:spPr>
          <a:xfrm>
            <a:off x="6035040" y="3063240"/>
            <a:ext cx="548640" cy="54864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8484" y="3186684"/>
            <a:ext cx="301752" cy="301752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6766560" y="30175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rip out, nothing to replace</a:t>
            </a:r>
            <a:endParaRPr lang="en-US" sz="1700" dirty="0"/>
          </a:p>
        </p:txBody>
      </p:sp>
      <p:sp>
        <p:nvSpPr>
          <p:cNvPr id="30" name="Shape 19"/>
          <p:cNvSpPr/>
          <p:nvPr/>
        </p:nvSpPr>
        <p:spPr>
          <a:xfrm>
            <a:off x="6035040" y="4114800"/>
            <a:ext cx="548640" cy="54864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58484" y="4238244"/>
            <a:ext cx="301752" cy="301752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6766560" y="4069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the bridge — not a new front door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0048" y="502920"/>
            <a:ext cx="1371600" cy="137160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6664" y="859536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1488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DocAssist.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645920" y="2971800"/>
            <a:ext cx="8899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 about any patient, in plain English.</a:t>
            </a:r>
            <a:endParaRPr lang="en-US" sz="16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an answer grounded in their real chart — not a guess.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2423160" y="4297680"/>
            <a:ext cx="822960" cy="82296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0" y="450342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5257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across every department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684825" y="4297680"/>
            <a:ext cx="822960" cy="82296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565" y="450342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724705" y="5257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its sources every time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8942832" y="4297680"/>
            <a:ext cx="822960" cy="82296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8572" y="4503420"/>
            <a:ext cx="411480" cy="411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982712" y="5257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or fully private — your choice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DocAssist builds every answer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77240" y="1417320"/>
            <a:ext cx="914400" cy="9144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165506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asked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1440" y="289864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English, no special syntax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290572" y="1755648"/>
            <a:ext cx="292608" cy="237744"/>
          </a:xfrm>
          <a:prstGeom prst="chevron">
            <a:avLst/>
          </a:prstGeom>
          <a:solidFill>
            <a:srgbClr val="EF6351"/>
          </a:solidFill>
          <a:ln/>
        </p:spPr>
      </p:sp>
      <p:sp>
        <p:nvSpPr>
          <p:cNvPr id="8" name="Shape 5"/>
          <p:cNvSpPr/>
          <p:nvPr/>
        </p:nvSpPr>
        <p:spPr>
          <a:xfrm>
            <a:off x="3182112" y="1417320"/>
            <a:ext cx="914400" cy="9144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1655064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496312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records found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2496312" y="289864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from all six systems — only what's relevant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695444" y="1755648"/>
            <a:ext cx="292608" cy="237744"/>
          </a:xfrm>
          <a:prstGeom prst="chevron">
            <a:avLst/>
          </a:prstGeom>
          <a:solidFill>
            <a:srgbClr val="EF6351"/>
          </a:solidFill>
          <a:ln/>
        </p:spPr>
      </p:sp>
      <p:sp>
        <p:nvSpPr>
          <p:cNvPr id="13" name="Shape 9"/>
          <p:cNvSpPr/>
          <p:nvPr/>
        </p:nvSpPr>
        <p:spPr>
          <a:xfrm>
            <a:off x="5586984" y="1417320"/>
            <a:ext cx="914400" cy="9144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728" y="1655064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01184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computed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901184" y="289864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and risk flags calculated, never left to memory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7100316" y="1755648"/>
            <a:ext cx="292608" cy="237744"/>
          </a:xfrm>
          <a:prstGeom prst="chevron">
            <a:avLst/>
          </a:prstGeom>
          <a:solidFill>
            <a:srgbClr val="EF6351"/>
          </a:solidFill>
          <a:ln/>
        </p:spPr>
      </p:sp>
      <p:sp>
        <p:nvSpPr>
          <p:cNvPr id="18" name="Shape 13"/>
          <p:cNvSpPr/>
          <p:nvPr/>
        </p:nvSpPr>
        <p:spPr>
          <a:xfrm>
            <a:off x="7991856" y="1417320"/>
            <a:ext cx="914400" cy="9144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655064"/>
            <a:ext cx="438912" cy="43891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06056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drafted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7306056" y="289864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Turned into clear, plain-language writing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9505188" y="1755648"/>
            <a:ext cx="292608" cy="237744"/>
          </a:xfrm>
          <a:prstGeom prst="chevron">
            <a:avLst/>
          </a:prstGeom>
          <a:solidFill>
            <a:srgbClr val="EF6351"/>
          </a:solidFill>
          <a:ln/>
        </p:spPr>
      </p:sp>
      <p:sp>
        <p:nvSpPr>
          <p:cNvPr id="23" name="Shape 17"/>
          <p:cNvSpPr/>
          <p:nvPr/>
        </p:nvSpPr>
        <p:spPr>
          <a:xfrm>
            <a:off x="10396728" y="1417320"/>
            <a:ext cx="914400" cy="91440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4472" y="1655064"/>
            <a:ext cx="438912" cy="43891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710928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before shown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9710928" y="289864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safety checks flag anything uncertain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640080" y="3886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example — not the AI's memory, an actual calculation</a:t>
            </a:r>
            <a:endParaRPr lang="en-US" sz="125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4041648" y="4251960"/>
          <a:ext cx="411480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90008" y="1371600"/>
            <a:ext cx="2011680" cy="201168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2928" y="187452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79476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see it live.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480060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8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question. Real records. Instant answer.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timeline. Plain answers. Faster decisions.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77240" y="1874520"/>
            <a:ext cx="3246120" cy="3566160"/>
          </a:xfrm>
          <a:prstGeom prst="roundRect">
            <a:avLst>
              <a:gd name="adj" fmla="val 3944"/>
            </a:avLst>
          </a:prstGeom>
          <a:solidFill>
            <a:srgbClr val="EEF4FA"/>
          </a:solidFill>
          <a:ln/>
        </p:spPr>
      </p:sp>
      <p:sp>
        <p:nvSpPr>
          <p:cNvPr id="4" name="Shape 2"/>
          <p:cNvSpPr/>
          <p:nvPr/>
        </p:nvSpPr>
        <p:spPr>
          <a:xfrm>
            <a:off x="2034540" y="2286000"/>
            <a:ext cx="914400" cy="9144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2284" y="252374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34290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result, one place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97280" y="41148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visit, every department, one continuous timeline.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53128" y="1874520"/>
            <a:ext cx="3246120" cy="3566160"/>
          </a:xfrm>
          <a:prstGeom prst="roundRect">
            <a:avLst>
              <a:gd name="adj" fmla="val 3944"/>
            </a:avLst>
          </a:prstGeom>
          <a:solidFill>
            <a:srgbClr val="EEF4FA"/>
          </a:solidFill>
          <a:ln/>
        </p:spPr>
      </p:sp>
      <p:sp>
        <p:nvSpPr>
          <p:cNvPr id="9" name="Shape 6"/>
          <p:cNvSpPr/>
          <p:nvPr/>
        </p:nvSpPr>
        <p:spPr>
          <a:xfrm>
            <a:off x="5710428" y="2286000"/>
            <a:ext cx="914400" cy="9144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8172" y="2523744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36008" y="34290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Ask, don't search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773168" y="41148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answers grounded in the real chart.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129016" y="1874520"/>
            <a:ext cx="3246120" cy="3566160"/>
          </a:xfrm>
          <a:prstGeom prst="roundRect">
            <a:avLst>
              <a:gd name="adj" fmla="val 3944"/>
            </a:avLst>
          </a:prstGeom>
          <a:solidFill>
            <a:srgbClr val="EEF4FA"/>
          </a:solidFill>
          <a:ln/>
        </p:spPr>
      </p:sp>
      <p:sp>
        <p:nvSpPr>
          <p:cNvPr id="14" name="Shape 10"/>
          <p:cNvSpPr/>
          <p:nvPr/>
        </p:nvSpPr>
        <p:spPr>
          <a:xfrm>
            <a:off x="9386316" y="2286000"/>
            <a:ext cx="914400" cy="9144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4060" y="2523744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11896" y="34290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buried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449056" y="41148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and risks surfaced automatically, not missed.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so you can trust every answer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965960"/>
            <a:ext cx="10362895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234440" y="2221992"/>
            <a:ext cx="731520" cy="73152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40487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0" y="207568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can stay fully inside your network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286000" y="25877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requirement to send anything off-site.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914400" y="3429000"/>
            <a:ext cx="10362895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1234440" y="3685032"/>
            <a:ext cx="731520" cy="73152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386791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286000" y="353872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look at a chart is logged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2286000" y="405079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 trail that protects your staff too.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914400" y="4892040"/>
            <a:ext cx="10362895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1234440" y="5148072"/>
            <a:ext cx="731520" cy="73152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533095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286000" y="50017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flags. It never decides.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2286000" y="55138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always have the final call.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real access happens in stages — not all at once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965960" y="2240280"/>
            <a:ext cx="1280160" cy="128016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8802" y="2573122"/>
            <a:ext cx="614477" cy="6144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372160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data first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051560" y="4389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connect to a sandbox, not live records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169664" y="2734056"/>
            <a:ext cx="365760" cy="292608"/>
          </a:xfrm>
          <a:prstGeom prst="chevron">
            <a:avLst/>
          </a:prstGeom>
          <a:solidFill>
            <a:srgbClr val="D8E6F3"/>
          </a:solidFill>
          <a:ln/>
        </p:spPr>
      </p:sp>
      <p:sp>
        <p:nvSpPr>
          <p:cNvPr id="8" name="Shape 5"/>
          <p:cNvSpPr/>
          <p:nvPr/>
        </p:nvSpPr>
        <p:spPr>
          <a:xfrm>
            <a:off x="5458968" y="2240280"/>
            <a:ext cx="1280160" cy="128016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810" y="2573122"/>
            <a:ext cx="614477" cy="61447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44568" y="372160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IT signs off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4544568" y="4389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reviews and approves before anything real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662672" y="2734056"/>
            <a:ext cx="365760" cy="292608"/>
          </a:xfrm>
          <a:prstGeom prst="chevron">
            <a:avLst/>
          </a:prstGeom>
          <a:solidFill>
            <a:srgbClr val="D8E6F3"/>
          </a:solidFill>
          <a:ln/>
        </p:spPr>
      </p:sp>
      <p:sp>
        <p:nvSpPr>
          <p:cNvPr id="13" name="Shape 9"/>
          <p:cNvSpPr/>
          <p:nvPr/>
        </p:nvSpPr>
        <p:spPr>
          <a:xfrm>
            <a:off x="8951976" y="2240280"/>
            <a:ext cx="1280160" cy="128016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4818" y="2573122"/>
            <a:ext cx="614477" cy="61447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37576" y="372160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live, one department at a time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8037576" y="4389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 big-bang switch-over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40080" y="589788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integration pattern hospitals already run — nothing new for them to adopt.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 first step, not a big leap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897380" y="2400300"/>
            <a:ext cx="1417320" cy="141732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5883" y="2768803"/>
            <a:ext cx="680314" cy="6803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40462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143000" y="45948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department, real data, a few weeks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151376" y="2944368"/>
            <a:ext cx="402336" cy="329184"/>
          </a:xfrm>
          <a:prstGeom prst="chevron">
            <a:avLst/>
          </a:prstGeom>
          <a:solidFill>
            <a:srgbClr val="D8E6F3"/>
          </a:solidFill>
          <a:ln/>
        </p:spPr>
      </p:sp>
      <p:sp>
        <p:nvSpPr>
          <p:cNvPr id="8" name="Shape 5"/>
          <p:cNvSpPr/>
          <p:nvPr/>
        </p:nvSpPr>
        <p:spPr>
          <a:xfrm>
            <a:off x="5390388" y="2400300"/>
            <a:ext cx="1417320" cy="141732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891" y="2768803"/>
            <a:ext cx="680314" cy="68031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36008" y="40462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it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4636008" y="45948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time saved and doctor feedback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644384" y="2944368"/>
            <a:ext cx="402336" cy="329184"/>
          </a:xfrm>
          <a:prstGeom prst="chevron">
            <a:avLst/>
          </a:prstGeom>
          <a:solidFill>
            <a:srgbClr val="D8E6F3"/>
          </a:solidFill>
          <a:ln/>
        </p:spPr>
      </p:sp>
      <p:sp>
        <p:nvSpPr>
          <p:cNvPr id="13" name="Shape 9"/>
          <p:cNvSpPr/>
          <p:nvPr/>
        </p:nvSpPr>
        <p:spPr>
          <a:xfrm>
            <a:off x="8883396" y="2400300"/>
            <a:ext cx="1417320" cy="141732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1899" y="2768803"/>
            <a:ext cx="680314" cy="68031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29016" y="40462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8129016" y="45948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departments on your timeline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2026-08-16T19:34:39Z</dcterms:created>
  <dcterms:modified xsi:type="dcterms:W3CDTF">2026-08-16T19:34:39Z</dcterms:modified>
</cp:coreProperties>
</file>